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Nimbus</a:t>
            </a:r>
          </a:p>
          <a:p/>
          <a:p>
            <a:r>
              <a:t>Open here while people settle.</a:t>
            </a:r>
          </a:p>
          <a:p/>
          <a:p>
            <a:r>
              <a:t>SAY: "We're team 5. Our use case was Retrieval and RAG: build something that lets you</a:t>
            </a:r>
          </a:p>
          <a:p>
            <a:r>
              <a:t>upload a PDF and ask it questions. What we built is called Nimbus. The one thing I'd like</a:t>
            </a:r>
          </a:p>
          <a:p>
            <a:r>
              <a:t>you to watch for is the page number on every answer — that's the whole point of the project."</a:t>
            </a:r>
          </a:p>
          <a:p/>
          <a:p>
            <a:r>
              <a:t>Keep this to about 20 seconds. Don't read the 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real-world problem</a:t>
            </a:r>
          </a:p>
          <a:p/>
          <a:p>
            <a:r>
              <a:t>SAY: "The problem isn't that the information is missing. In an eighty-page annual report,</a:t>
            </a:r>
          </a:p>
          <a:p>
            <a:r>
              <a:t>the answer is definitely in there. The problem is that finding it takes twenty minutes.</a:t>
            </a:r>
          </a:p>
          <a:p/>
          <a:p>
            <a:r>
              <a:t>Ctrl+F doesn't solve it, because Ctrl+F matches letters, not meaning. Search 'how much did</a:t>
            </a:r>
          </a:p>
          <a:p>
            <a:r>
              <a:t>we earn' and you get nothing, because the document says 'total revenue'.</a:t>
            </a:r>
          </a:p>
          <a:p/>
          <a:p>
            <a:r>
              <a:t>And the obvious fix — just ask ChatGPT — creates a worse problem. A model that invents a</a:t>
            </a:r>
          </a:p>
          <a:p>
            <a:r>
              <a:t>plausible-looking number is more dangerous than one that finds nothing, because you can't</a:t>
            </a:r>
          </a:p>
          <a:p>
            <a:r>
              <a:t>tell which one you got."</a:t>
            </a:r>
          </a:p>
          <a:p/>
          <a:p>
            <a:r>
              <a:t>That third card is the setup for everything after it. Land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built</a:t>
            </a:r>
          </a:p>
          <a:p/>
          <a:p>
            <a:r>
              <a:t>This slide exists so the evaluators can tick their own checklist. Go left to right, fast.</a:t>
            </a:r>
          </a:p>
          <a:p/>
          <a:p>
            <a:r>
              <a:t>SAY: "Left side is what the brief asked for — all five, all working. Upload at runtime,</a:t>
            </a:r>
          </a:p>
          <a:p>
            <a:r>
              <a:t>retrieve and cite, refuse instead of guessing, a chunking experiment, and a source panel.</a:t>
            </a:r>
          </a:p>
          <a:p/>
          <a:p>
            <a:r>
              <a:t>Right side is what we added. The one I'd point at is the middle one: we don't trust the</a:t>
            </a:r>
          </a:p>
          <a:p>
            <a:r>
              <a:t>model's citations. Every page number it writes gets checked against the pages it was</a:t>
            </a:r>
          </a:p>
          <a:p>
            <a:r>
              <a:t>actually shown, and if one doesn't match, we throw the whole answer away and refuse instead."</a:t>
            </a:r>
          </a:p>
          <a:p/>
          <a:p>
            <a:r>
              <a:t>IF ASKED why 24 questions instead of 20: 18 the document can answer, 6 it can't. You can't</a:t>
            </a:r>
          </a:p>
          <a:p>
            <a:r>
              <a:t>test refusal without questions that have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  <a:p/>
          <a:p>
            <a:r>
              <a:t>The most important slide. Slow down here. Walk the three lanes left to right.</a:t>
            </a:r>
          </a:p>
          <a:p/>
          <a:p>
            <a:r>
              <a:t>SAY: "Read this left to right. Lane one happens once, when you upload a PDF. We pull the</a:t>
            </a:r>
          </a:p>
          <a:p>
            <a:r>
              <a:t>text out page by page, cut it into 512-token chunks, turn each chunk into a vector, and put</a:t>
            </a:r>
          </a:p>
          <a:p>
            <a:r>
              <a:t>those vectors in a FAISS index.</a:t>
            </a:r>
          </a:p>
          <a:p/>
          <a:p>
            <a:r>
              <a:t>Lane two happens every time someone asks a question — and this is the retrieval part, which</a:t>
            </a:r>
          </a:p>
          <a:p>
            <a:r>
              <a:t>is really the heart of it. We turn the question into a vector using the same model, so the</a:t>
            </a:r>
          </a:p>
          <a:p>
            <a:r>
              <a:t>question and the chunks live in the same space. Then we ask the index for the nearest chunks</a:t>
            </a:r>
          </a:p>
          <a:p>
            <a:r>
              <a:t>by meaning, not by keyword.</a:t>
            </a:r>
          </a:p>
          <a:p/>
          <a:p>
            <a:r>
              <a:t>But we don't stop there. Nearest-by-vector is fast and rough. So a second model — a reranker</a:t>
            </a:r>
          </a:p>
          <a:p>
            <a:r>
              <a:t>— re-reads the top candidates against the actual question and re-orders them. We combine both</a:t>
            </a:r>
          </a:p>
          <a:p>
            <a:r>
              <a:t>opinions rather than trusting either one, and that combination beats both of them on its own.</a:t>
            </a:r>
          </a:p>
          <a:p>
            <a:r>
              <a:t>Five chunks survive. That's the only evidence that moves forward.</a:t>
            </a:r>
          </a:p>
          <a:p/>
          <a:p>
            <a:r>
              <a:t>Lane three: Claude sees those five chunks and nothing else. No training data, no internet. It</a:t>
            </a:r>
          </a:p>
          <a:p>
            <a:r>
              <a:t>writes the answer and marks each fact with its page. Then we verify every citation, and if any</a:t>
            </a:r>
          </a:p>
          <a:p>
            <a:r>
              <a:t>of them doesn't check out, the answer is discarded and the user gets a refusal instead."</a:t>
            </a:r>
          </a:p>
          <a:p/>
          <a:p>
            <a:r>
              <a:t>The strip at the bottom is the stack — mention it in one breath, don't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stack</a:t>
            </a:r>
          </a:p>
          <a:p/>
          <a:p>
            <a:r>
              <a:t>Don't read the table. Point at one row and move.</a:t>
            </a:r>
          </a:p>
          <a:p/>
          <a:p>
            <a:r>
              <a:t>SAY: "Four layers. The one that matters is the third — that's where the document intelligence</a:t>
            </a:r>
          </a:p>
          <a:p>
            <a:r>
              <a:t>actually lives. PyMuPDF reads the PDF, sentence-transformers and MiniLM turn text into vectors,</a:t>
            </a:r>
          </a:p>
          <a:p>
            <a:r>
              <a:t>FAISS searches them, a CrossEncoder re-ranks, and Claude writes the answer.</a:t>
            </a:r>
          </a:p>
          <a:p/>
          <a:p>
            <a:r>
              <a:t>The line underneath is deliberate. Everything listed here is actually running — there is</a:t>
            </a:r>
          </a:p>
          <a:p>
            <a:r>
              <a:t>nothing on this slide we planned and didn't build."</a:t>
            </a:r>
          </a:p>
          <a:p/>
          <a:p>
            <a:r>
              <a:t>IF ASKED why no LangChain or LlamaIndex: for a pipeline this size a framework adds indirection</a:t>
            </a:r>
          </a:p>
          <a:p>
            <a:r>
              <a:t>without removing work, and it makes it harder to say exactly what happens between question and</a:t>
            </a:r>
          </a:p>
          <a:p>
            <a:r>
              <a:t>answer. Ours is a handful of explicit Python modules we can test one at a time.</a:t>
            </a:r>
          </a:p>
          <a:p/>
          <a:p>
            <a:r>
              <a:t>IF ASKED why FAISS rather than Pinecone or pgvector: for one document with 127 chunks an</a:t>
            </a:r>
          </a:p>
          <a:p>
            <a:r>
              <a:t>in-process index is faster than a network call and gives exact matches rather than approximate</a:t>
            </a:r>
          </a:p>
          <a:p>
            <a:r>
              <a:t>ones. A hosted service earns its place at a much larger scale than this.</a:t>
            </a:r>
          </a:p>
          <a:p/>
          <a:p>
            <a:r>
              <a:t>IF ASKED whether any model was fine-tuned: no, everything is off the shelf. All of the gain</a:t>
            </a:r>
          </a:p>
          <a:p>
            <a:r>
              <a:t>came from how they are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chunking lab</a:t>
            </a:r>
          </a:p>
          <a:p/>
          <a:p>
            <a:r>
              <a:t>A required deliverable. Be precise, and own the tie — it is a better story than a winner.</a:t>
            </a:r>
          </a:p>
          <a:p/>
          <a:p>
            <a:r>
              <a:t>SAY: "The brief asked us to compare chunk sizes and overlaps, so we did. Same document, same</a:t>
            </a:r>
          </a:p>
          <a:p>
            <a:r>
              <a:t>questions, and one important control: each setting got the same total amount of retrieved text,</a:t>
            </a:r>
          </a:p>
          <a:p>
            <a:r>
              <a:t>so nothing wins just by being handed more material.</a:t>
            </a:r>
          </a:p>
          <a:p/>
          <a:p>
            <a:r>
              <a:t>The result is more interesting than a winner. 256 and 512 tie at 87%. Once the full ranking</a:t>
            </a:r>
          </a:p>
          <a:p>
            <a:r>
              <a:t>stack runs, chunk size below 1024 stops mattering. So we chose on cost — 512 reaches the same</a:t>
            </a:r>
          </a:p>
          <a:p>
            <a:r>
              <a:t>number with 127 chunks instead of 230, and sends the model five chunks instead of nine. Half the</a:t>
            </a:r>
          </a:p>
          <a:p>
            <a:r>
              <a:t>index, and a shorter prompt with less distracting text.</a:t>
            </a:r>
          </a:p>
          <a:p/>
          <a:p>
            <a:r>
              <a:t>1024 loses badly, and that makes sense: one useful sentence sitting in a page of unrelated text,</a:t>
            </a:r>
          </a:p>
          <a:p>
            <a:r>
              <a:t>and the unrelated text drags the match away from the question.</a:t>
            </a:r>
          </a:p>
          <a:p/>
          <a:p>
            <a:r>
              <a:t>The overlap row surprised us. Twenty percent is worse than ten or none — past a point the chunks</a:t>
            </a:r>
          </a:p>
          <a:p>
            <a:r>
              <a:t>just repeat each other and crowd out distinct pages."</a:t>
            </a:r>
          </a:p>
          <a:p/>
          <a:p>
            <a:r>
              <a:t>IF ASKED what overlap is for: the end of one chunk repeats at the start of the next, so a</a:t>
            </a:r>
          </a:p>
          <a:p>
            <a:r>
              <a:t>sentence that straddles a boundary still appears whole somewhere.</a:t>
            </a:r>
          </a:p>
          <a:p/>
          <a:p>
            <a:r>
              <a:t>IF ASKED "so chunk size doesn't matter?": it matters a great deal for raw vector search — there</a:t>
            </a:r>
          </a:p>
          <a:p>
            <a:r>
              <a:t>256 scores 87% and 512 only 73%. The reranker and the fusion absorb the difference. Worth</a:t>
            </a:r>
          </a:p>
          <a:p>
            <a:r>
              <a:t>knowing: a weaker retrieval stack would need the smaller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 — every claim carries its page</a:t>
            </a:r>
          </a:p>
          <a:p/>
          <a:p>
            <a:r>
              <a:t>Live demo slot. If the demo is risky, talk over the screenshot.</a:t>
            </a:r>
          </a:p>
          <a:p/>
          <a:p>
            <a:r>
              <a:t>SAY: "Yellow always means evidence. The page markers inside the answer, the chips under it,</a:t>
            </a:r>
          </a:p>
          <a:p>
            <a:r>
              <a:t>and the source cards on the right all wear the same colour — click a marker and the source it</a:t>
            </a:r>
          </a:p>
          <a:p>
            <a:r>
              <a:t>points at lights up.</a:t>
            </a:r>
          </a:p>
          <a:p/>
          <a:p>
            <a:r>
              <a:t>The source panel shows the actual retrieved text, not a summary of it, so you can check the</a:t>
            </a:r>
          </a:p>
          <a:p>
            <a:r>
              <a:t>answer without opening the PDF.</a:t>
            </a:r>
          </a:p>
          <a:p/>
          <a:p>
            <a:r>
              <a:t>And the bottom card is the part we're most pleased with. Ask it about fiscal year 2035 and it</a:t>
            </a:r>
          </a:p>
          <a:p>
            <a:r>
              <a:t>doesn't guess — it tells you the document only covers 2023 to 2025."</a:t>
            </a:r>
          </a:p>
          <a:p/>
          <a:p>
            <a:r>
              <a:t>DEMO ORDER (safe): one factual question, one broad question, then the refusal.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it works</a:t>
            </a:r>
          </a:p>
          <a:p/>
          <a:p>
            <a:r>
              <a:t>SAY: "The brief gave us a definition of done, so here it is answered directly.</a:t>
            </a:r>
          </a:p>
          <a:p/>
          <a:p>
            <a:r>
              <a:t>Every answer cites a page — that's enforced in code, not hoped for. Out-of-scope questions</a:t>
            </a:r>
          </a:p>
          <a:p>
            <a:r>
              <a:t>refused: six out of six, and four of those six were deliberately plausible, things an annual</a:t>
            </a:r>
          </a:p>
          <a:p>
            <a:r>
              <a:t>report might contain but this one doesn't. Gold set scored. Best chunking config reported</a:t>
            </a:r>
          </a:p>
          <a:p>
            <a:r>
              <a:t>with evidence, which you just saw.</a:t>
            </a:r>
          </a:p>
          <a:p/>
          <a:p>
            <a:r>
              <a:t>The three numbers on the right: 83 out of 100 on matching the verified answer. 100% of figures</a:t>
            </a:r>
          </a:p>
          <a:p>
            <a:r>
              <a:t>traced back to the document — nothing invented anywhere. And six out of six refusals."</a:t>
            </a:r>
          </a:p>
          <a:p/>
          <a:p>
            <a:r>
              <a:t>IF ASKED why only 83: our scorer compares wording, so a correct answer phrased differently</a:t>
            </a:r>
          </a:p>
          <a:p>
            <a:r>
              <a:t>gets marked down. It's a floor, not a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 and fixes</a:t>
            </a:r>
          </a:p>
          <a:p/>
          <a:p>
            <a:r>
              <a:t>The story slide. Pick two rows, don't read the table.</a:t>
            </a:r>
          </a:p>
          <a:p/>
          <a:p>
            <a:r>
              <a:t>SAY: "Two I'd highlight. The yellow row: early on, the model could cite a page it had never</a:t>
            </a:r>
          </a:p>
          <a:p>
            <a:r>
              <a:t>been shown. Now every page number gets checked against what was actually retrieved, and a</a:t>
            </a:r>
          </a:p>
          <a:p>
            <a:r>
              <a:t>failed check throws the answer away.</a:t>
            </a:r>
          </a:p>
          <a:p/>
          <a:p>
            <a:r>
              <a:t>And the one below it is my favourite. In a document about one company, that company's name is</a:t>
            </a:r>
          </a:p>
          <a:p>
            <a:r>
              <a:t>on every single page — so it tells the search nothing, but it dominates the question and</a:t>
            </a:r>
          </a:p>
          <a:p>
            <a:r>
              <a:t>crowds out the words that actually matter. We strip it out before searching."</a:t>
            </a:r>
          </a:p>
          <a:p/>
          <a:p>
            <a:r>
              <a:t>IF ASKED for a number: combining the two ranking methods took recall from 73% to 87%.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enhancements</a:t>
            </a:r>
          </a:p>
          <a:p/>
          <a:p>
            <a:r>
              <a:t>Fast. Twenty seconds.</a:t>
            </a:r>
          </a:p>
          <a:p/>
          <a:p>
            <a:r>
              <a:t>SAY: "Four things planned, none built — we're keeping that line clear. Multi-document</a:t>
            </a:r>
          </a:p>
          <a:p>
            <a:r>
              <a:t>workspaces, better handling of tables, structure-aware chunking done properly, and everything</a:t>
            </a:r>
          </a:p>
          <a:p>
            <a:r>
              <a:t>security-related before a real document goes near this."</a:t>
            </a:r>
          </a:p>
          <a:p/>
          <a:p>
            <a:r>
              <a:t>IF ASKED "didn't structure-aware chunking already lose?": yes — splitting on paragraphs lost.</a:t>
            </a:r>
          </a:p>
          <a:p>
            <a:r>
              <a:t>The next attempt has to use real structure, headings and table rows, not just different</a:t>
            </a:r>
          </a:p>
          <a:p>
            <a:r>
              <a:t>break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</a:t>
            </a:r>
          </a:p>
          <a:p/>
          <a:p>
            <a:r>
              <a:t>SAY: "So — an assistant that answers from the document, and not beyond it. Thank you.</a:t>
            </a:r>
          </a:p>
          <a:p>
            <a:r>
              <a:t>Happy to take questions."</a:t>
            </a:r>
          </a:p>
          <a:p/>
          <a:p>
            <a:r>
              <a:t>Then stop talking. Leave this slide up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